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702" r:id="rId2"/>
    <p:sldMasterId id="2147483686" r:id="rId3"/>
  </p:sldMasterIdLst>
  <p:notesMasterIdLst>
    <p:notesMasterId r:id="rId18"/>
  </p:notesMasterIdLst>
  <p:handoutMasterIdLst>
    <p:handoutMasterId r:id="rId19"/>
  </p:handoutMasterIdLst>
  <p:sldIdLst>
    <p:sldId id="277" r:id="rId4"/>
    <p:sldId id="399" r:id="rId5"/>
    <p:sldId id="400" r:id="rId6"/>
    <p:sldId id="401" r:id="rId7"/>
    <p:sldId id="408" r:id="rId8"/>
    <p:sldId id="402" r:id="rId9"/>
    <p:sldId id="410" r:id="rId10"/>
    <p:sldId id="411" r:id="rId11"/>
    <p:sldId id="404" r:id="rId12"/>
    <p:sldId id="409" r:id="rId13"/>
    <p:sldId id="405" r:id="rId14"/>
    <p:sldId id="406" r:id="rId15"/>
    <p:sldId id="407" r:id="rId16"/>
    <p:sldId id="41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74" autoAdjust="0"/>
    <p:restoredTop sz="94660" autoAdjust="0"/>
  </p:normalViewPr>
  <p:slideViewPr>
    <p:cSldViewPr snapToGrid="0">
      <p:cViewPr varScale="1">
        <p:scale>
          <a:sx n="51" d="100"/>
          <a:sy n="51" d="100"/>
        </p:scale>
        <p:origin x="53" y="941"/>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7" d="100"/>
          <a:sy n="67" d="100"/>
        </p:scale>
        <p:origin x="-3168"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4/29/2025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4/29/2025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053794"/>
            <a:ext cx="12196420" cy="43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698031" y="1476029"/>
            <a:ext cx="6829425" cy="2797237"/>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2400" i="1" dirty="0">
              <a:solidFill>
                <a:srgbClr val="000000"/>
              </a:solidFill>
            </a:endParaRPr>
          </a:p>
          <a:p>
            <a:pPr algn="ctr">
              <a:lnSpc>
                <a:spcPct val="150000"/>
              </a:lnSpc>
            </a:pPr>
            <a:r>
              <a:rPr lang="en-US" sz="2400" i="1" dirty="0">
                <a:solidFill>
                  <a:srgbClr val="000000"/>
                </a:solidFill>
              </a:rPr>
              <a:t>Submitted in the partial fulfillment for the award of the degree of</a:t>
            </a:r>
          </a:p>
          <a:p>
            <a:pPr algn="ctr">
              <a:lnSpc>
                <a:spcPct val="150000"/>
              </a:lnSpc>
            </a:pPr>
            <a:r>
              <a:rPr lang="en-US" sz="2400" b="1" dirty="0">
                <a:solidFill>
                  <a:srgbClr val="000000"/>
                </a:solidFill>
              </a:rPr>
              <a:t>BACHELOR OF ENGINEERING </a:t>
            </a:r>
            <a:endParaRPr lang="en-US" sz="2400" dirty="0">
              <a:solidFill>
                <a:srgbClr val="000000"/>
              </a:solidFill>
            </a:endParaRPr>
          </a:p>
          <a:p>
            <a:pPr algn="ctr">
              <a:lnSpc>
                <a:spcPct val="150000"/>
              </a:lnSpc>
            </a:pPr>
            <a:r>
              <a:rPr lang="en-US" sz="2400" i="1" dirty="0">
                <a:solidFill>
                  <a:srgbClr val="000000"/>
                </a:solidFill>
              </a:rPr>
              <a:t> IN</a:t>
            </a:r>
          </a:p>
          <a:p>
            <a:pPr algn="ctr">
              <a:lnSpc>
                <a:spcPct val="150000"/>
              </a:lnSpc>
            </a:pPr>
            <a:r>
              <a:rPr lang="en-US" sz="2400" b="1" dirty="0">
                <a:solidFill>
                  <a:srgbClr val="000000"/>
                </a:solidFill>
              </a:rPr>
              <a:t>CSE-AIML</a:t>
            </a:r>
            <a:endParaRPr lang="en-US" sz="2400" dirty="0">
              <a:solidFill>
                <a:srgbClr val="000000"/>
              </a:solidFill>
            </a:endParaRPr>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43345" y="6014156"/>
            <a:ext cx="58826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srgbClr val="FF0000"/>
                </a:solidFill>
                <a:latin typeface="Times New Roman" pitchFamily="18" charset="0"/>
                <a:cs typeface="Times New Roman" pitchFamily="18" charset="0"/>
              </a:rPr>
              <a:t>Department of AIT-CSE</a:t>
            </a:r>
            <a:endParaRPr lang="en-US" sz="1600" dirty="0">
              <a:solidFill>
                <a:srgbClr val="FF0000"/>
              </a:solidFill>
              <a:latin typeface="Times New Roman" pitchFamily="18" charset="0"/>
              <a:cs typeface="Times New Roman" pitchFamily="18" charset="0"/>
            </a:endParaRPr>
          </a:p>
        </p:txBody>
      </p:sp>
      <p:sp>
        <p:nvSpPr>
          <p:cNvPr id="26" name="TextBox 25"/>
          <p:cNvSpPr txBox="1">
            <a:spLocks noChangeArrowheads="1"/>
          </p:cNvSpPr>
          <p:nvPr/>
        </p:nvSpPr>
        <p:spPr bwMode="auto">
          <a:xfrm>
            <a:off x="1657138" y="443068"/>
            <a:ext cx="847709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2800" b="1" dirty="0"/>
              <a:t>Smart Traffic Management: Leveraging AI and ML for Real-Time Traffic Flow Optimization in Urban Environment</a:t>
            </a:r>
            <a:endParaRPr lang="en-US" sz="2800" b="1" dirty="0">
              <a:latin typeface="Raleway ExtraBold" pitchFamily="34" charset="-52"/>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
        <p:nvSpPr>
          <p:cNvPr id="5" name="TextBox 4"/>
          <p:cNvSpPr txBox="1"/>
          <p:nvPr/>
        </p:nvSpPr>
        <p:spPr>
          <a:xfrm>
            <a:off x="1855572" y="4377866"/>
            <a:ext cx="3346494" cy="1631216"/>
          </a:xfrm>
          <a:prstGeom prst="rect">
            <a:avLst/>
          </a:prstGeom>
          <a:noFill/>
        </p:spPr>
        <p:txBody>
          <a:bodyPr wrap="none" rtlCol="0">
            <a:spAutoFit/>
          </a:bodyPr>
          <a:lstStyle/>
          <a:p>
            <a:r>
              <a:rPr lang="en-US" sz="2000" b="1" dirty="0"/>
              <a:t> Submitted by: </a:t>
            </a:r>
          </a:p>
          <a:p>
            <a:r>
              <a:rPr lang="en-US" sz="2000" dirty="0"/>
              <a:t> MRINAL BHATT -  21BCS9076</a:t>
            </a:r>
          </a:p>
          <a:p>
            <a:r>
              <a:rPr lang="en-US" sz="2000" dirty="0"/>
              <a:t> HARSH HARSHIT- 21BCS9622</a:t>
            </a:r>
          </a:p>
          <a:p>
            <a:r>
              <a:rPr lang="en-US" sz="2000" dirty="0"/>
              <a:t> RAHUL YADAV – 21BCS9479</a:t>
            </a:r>
          </a:p>
          <a:p>
            <a:r>
              <a:rPr lang="en-US" sz="2000" dirty="0"/>
              <a:t> BRIJESH KISHORE- 21BCS8816</a:t>
            </a:r>
          </a:p>
        </p:txBody>
      </p:sp>
      <p:sp>
        <p:nvSpPr>
          <p:cNvPr id="6" name="TextBox 5"/>
          <p:cNvSpPr txBox="1"/>
          <p:nvPr/>
        </p:nvSpPr>
        <p:spPr>
          <a:xfrm>
            <a:off x="7681250" y="4725655"/>
            <a:ext cx="4060727" cy="1015663"/>
          </a:xfrm>
          <a:prstGeom prst="rect">
            <a:avLst/>
          </a:prstGeom>
          <a:noFill/>
        </p:spPr>
        <p:txBody>
          <a:bodyPr wrap="none" rtlCol="0">
            <a:spAutoFit/>
          </a:bodyPr>
          <a:lstStyle/>
          <a:p>
            <a:r>
              <a:rPr lang="en-US" sz="2000" b="1" dirty="0"/>
              <a:t>Under the Supervision of: </a:t>
            </a:r>
            <a:endParaRPr lang="en-US" sz="2000" dirty="0"/>
          </a:p>
          <a:p>
            <a:r>
              <a:rPr lang="en-US" sz="2000" dirty="0"/>
              <a:t>SUPERVISORS NAME: Dr. Preet Kamal</a:t>
            </a:r>
          </a:p>
          <a:p>
            <a:endParaRPr lang="en-US" sz="2000" dirty="0"/>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676" y="365126"/>
            <a:ext cx="10515600" cy="976206"/>
          </a:xfrm>
        </p:spPr>
        <p:txBody>
          <a:bodyPr/>
          <a:lstStyle/>
          <a:p>
            <a:r>
              <a:rPr lang="en-US" b="1" dirty="0">
                <a:latin typeface="Times New Roman"/>
                <a:cs typeface="Times New Roman"/>
              </a:rPr>
              <a:t>Outline</a:t>
            </a:r>
          </a:p>
        </p:txBody>
      </p:sp>
      <p:sp>
        <p:nvSpPr>
          <p:cNvPr id="3" name="Content Placeholder 2"/>
          <p:cNvSpPr>
            <a:spLocks noGrp="1"/>
          </p:cNvSpPr>
          <p:nvPr>
            <p:ph idx="1"/>
          </p:nvPr>
        </p:nvSpPr>
        <p:spPr>
          <a:xfrm>
            <a:off x="838200" y="1588220"/>
            <a:ext cx="10515600" cy="4952253"/>
          </a:xfrm>
        </p:spPr>
        <p:txBody>
          <a:bodyPr>
            <a:normAutofit/>
          </a:bodyPr>
          <a:lstStyle/>
          <a:p>
            <a:r>
              <a:rPr lang="en-US" dirty="0">
                <a:latin typeface="Times New Roman"/>
                <a:cs typeface="Times New Roman"/>
              </a:rPr>
              <a:t>Introduction to Project</a:t>
            </a:r>
          </a:p>
          <a:p>
            <a:r>
              <a:rPr lang="en-US" dirty="0">
                <a:latin typeface="Times New Roman"/>
                <a:cs typeface="Times New Roman"/>
              </a:rPr>
              <a:t>Problem Formulation</a:t>
            </a:r>
          </a:p>
          <a:p>
            <a:r>
              <a:rPr lang="en-US" dirty="0">
                <a:latin typeface="Times New Roman"/>
                <a:cs typeface="Times New Roman"/>
              </a:rPr>
              <a:t>Objectives</a:t>
            </a:r>
          </a:p>
          <a:p>
            <a:r>
              <a:rPr lang="en-US" dirty="0">
                <a:latin typeface="Times New Roman"/>
                <a:cs typeface="Times New Roman"/>
              </a:rPr>
              <a:t>Methodology</a:t>
            </a:r>
          </a:p>
          <a:p>
            <a:r>
              <a:rPr lang="en-US" spc="-10" dirty="0">
                <a:latin typeface="Times New Roman"/>
                <a:cs typeface="Times New Roman"/>
              </a:rPr>
              <a:t>Results</a:t>
            </a:r>
          </a:p>
          <a:p>
            <a:r>
              <a:rPr lang="en-US" spc="-10" dirty="0">
                <a:latin typeface="Times New Roman"/>
                <a:cs typeface="Times New Roman"/>
              </a:rPr>
              <a:t>Conclusion</a:t>
            </a:r>
          </a:p>
          <a:p>
            <a:r>
              <a:rPr lang="en-US" dirty="0">
                <a:latin typeface="Times New Roman"/>
                <a:cs typeface="Times New Roman"/>
              </a:rPr>
              <a:t>Future Scope</a:t>
            </a:r>
          </a:p>
          <a:p>
            <a:r>
              <a:rPr lang="en-US" dirty="0">
                <a:latin typeface="Times New Roman"/>
                <a:cs typeface="Times New Roman"/>
              </a:rPr>
              <a:t>References</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26059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6112"/>
          </a:xfrm>
        </p:spPr>
        <p:txBody>
          <a:bodyPr/>
          <a:lstStyle/>
          <a:p>
            <a:r>
              <a:rPr lang="en-US" dirty="0">
                <a:latin typeface="Times New Roman" panose="02020603050405020304" pitchFamily="18" charset="0"/>
                <a:cs typeface="Times New Roman" panose="02020603050405020304" pitchFamily="18" charset="0"/>
              </a:rPr>
              <a:t>Introduction to Project</a:t>
            </a:r>
          </a:p>
        </p:txBody>
      </p:sp>
      <p:sp>
        <p:nvSpPr>
          <p:cNvPr id="3" name="Content Placeholder 2"/>
          <p:cNvSpPr>
            <a:spLocks noGrp="1"/>
          </p:cNvSpPr>
          <p:nvPr>
            <p:ph idx="1"/>
          </p:nvPr>
        </p:nvSpPr>
        <p:spPr>
          <a:xfrm>
            <a:off x="838199" y="1825625"/>
            <a:ext cx="9891319" cy="4351338"/>
          </a:xfrm>
        </p:spPr>
        <p:txBody>
          <a:bodyPr>
            <a:normAutofit/>
          </a:bodyPr>
          <a:lstStyle/>
          <a:p>
            <a:pPr algn="just"/>
            <a:r>
              <a:rPr lang="en-US" sz="2400" dirty="0">
                <a:latin typeface="Times New Roman" panose="02020603050405020304" pitchFamily="18" charset="0"/>
                <a:cs typeface="Times New Roman" panose="02020603050405020304" pitchFamily="18" charset="0"/>
              </a:rPr>
              <a:t>This project aims to develop an intelligent system capable of dynamically analyzing traffic patterns, predicting congestion, and optimizing traffic signals. By incorporating real-time data from sensors, cameras, and GPS systems, the proposed solution will empower cities to proactively manage traffic, enhance road safety, and reduce environmental impacts. </a:t>
            </a:r>
          </a:p>
          <a:p>
            <a:pPr algn="just"/>
            <a:r>
              <a:rPr lang="en-US" sz="2400" dirty="0">
                <a:latin typeface="Times New Roman" panose="02020603050405020304" pitchFamily="18" charset="0"/>
                <a:cs typeface="Times New Roman" panose="02020603050405020304" pitchFamily="18" charset="0"/>
              </a:rPr>
              <a:t>Through this project, we aspire to build a scalable, efficient, and sustainable traffic management framework that aligns with the smart city initiatives of the future.</a:t>
            </a:r>
            <a:endParaRPr lang="en-US" sz="2400" dirty="0">
              <a:solidFill>
                <a:srgbClr val="222222"/>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340101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C8EBE-B45B-D904-FFB3-0A4EA240AB9D}"/>
              </a:ext>
            </a:extLst>
          </p:cNvPr>
          <p:cNvSpPr>
            <a:spLocks noGrp="1"/>
          </p:cNvSpPr>
          <p:nvPr>
            <p:ph type="title"/>
          </p:nvPr>
        </p:nvSpPr>
        <p:spPr>
          <a:xfrm>
            <a:off x="838200" y="18255"/>
            <a:ext cx="10515600" cy="1325563"/>
          </a:xfrm>
        </p:spPr>
        <p:txBody>
          <a:bodyPr/>
          <a:lstStyle/>
          <a:p>
            <a:r>
              <a:rPr lang="en-US" dirty="0">
                <a:latin typeface="Times New Roman"/>
                <a:cs typeface="Times New Roman"/>
              </a:rPr>
              <a:t>Problem Formulation</a:t>
            </a:r>
            <a:endParaRPr lang="en-IN" dirty="0"/>
          </a:p>
        </p:txBody>
      </p:sp>
      <p:sp>
        <p:nvSpPr>
          <p:cNvPr id="3" name="Content Placeholder 2">
            <a:extLst>
              <a:ext uri="{FF2B5EF4-FFF2-40B4-BE49-F238E27FC236}">
                <a16:creationId xmlns:a16="http://schemas.microsoft.com/office/drawing/2014/main" id="{C4BEF568-A0D9-7BAF-BB48-78192888E743}"/>
              </a:ext>
            </a:extLst>
          </p:cNvPr>
          <p:cNvSpPr>
            <a:spLocks noGrp="1"/>
          </p:cNvSpPr>
          <p:nvPr>
            <p:ph idx="1"/>
          </p:nvPr>
        </p:nvSpPr>
        <p:spPr>
          <a:xfrm>
            <a:off x="838199" y="1328287"/>
            <a:ext cx="10805719" cy="5192434"/>
          </a:xfrm>
        </p:spPr>
        <p:txBody>
          <a:bodyPr>
            <a:noAutofit/>
          </a:bodyPr>
          <a:lstStyle/>
          <a:p>
            <a:pPr algn="just"/>
            <a:r>
              <a:rPr lang="en-US" sz="2200" dirty="0">
                <a:latin typeface="Times New Roman" panose="02020603050405020304" pitchFamily="18" charset="0"/>
                <a:cs typeface="Times New Roman" panose="02020603050405020304" pitchFamily="18" charset="0"/>
              </a:rPr>
              <a:t>Urban areas are increasingly plagued by traffic congestion, which adversely affects commuters, businesses, and the environment. </a:t>
            </a:r>
          </a:p>
          <a:p>
            <a:pPr algn="just"/>
            <a:r>
              <a:rPr lang="en-US" sz="2200" b="1" dirty="0">
                <a:latin typeface="Times New Roman" panose="02020603050405020304" pitchFamily="18" charset="0"/>
                <a:cs typeface="Times New Roman" panose="02020603050405020304" pitchFamily="18" charset="0"/>
              </a:rPr>
              <a:t>Key Challenges</a:t>
            </a:r>
          </a:p>
          <a:p>
            <a:pPr>
              <a:buFont typeface="+mj-lt"/>
              <a:buAutoNum type="arabicPeriod"/>
            </a:pPr>
            <a:r>
              <a:rPr lang="en-US" sz="2200" b="1" dirty="0">
                <a:latin typeface="Times New Roman" panose="02020603050405020304" pitchFamily="18" charset="0"/>
                <a:cs typeface="Times New Roman" panose="02020603050405020304" pitchFamily="18" charset="0"/>
              </a:rPr>
              <a:t>Congestion: </a:t>
            </a:r>
            <a:br>
              <a:rPr lang="en-US" sz="2200" b="1"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Inefficient signal management leading to delays.</a:t>
            </a:r>
          </a:p>
          <a:p>
            <a:pPr>
              <a:buFont typeface="+mj-lt"/>
              <a:buAutoNum type="arabicPeriod"/>
            </a:pPr>
            <a:r>
              <a:rPr lang="en-US" sz="2200" b="1" dirty="0">
                <a:latin typeface="Times New Roman" panose="02020603050405020304" pitchFamily="18" charset="0"/>
                <a:cs typeface="Times New Roman" panose="02020603050405020304" pitchFamily="18" charset="0"/>
              </a:rPr>
              <a:t> Safety: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Slow accident detection and response.</a:t>
            </a:r>
          </a:p>
          <a:p>
            <a:pPr>
              <a:buFont typeface="+mj-lt"/>
              <a:buAutoNum type="arabicPeriod"/>
            </a:pPr>
            <a:r>
              <a:rPr lang="en-US" sz="2200" b="1" dirty="0">
                <a:latin typeface="Times New Roman" panose="02020603050405020304" pitchFamily="18" charset="0"/>
                <a:cs typeface="Times New Roman" panose="02020603050405020304" pitchFamily="18" charset="0"/>
              </a:rPr>
              <a:t>Environmental Impact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Increased carbon emissions and fuel wastage caused by vehicles idling in traffic.</a:t>
            </a:r>
          </a:p>
          <a:p>
            <a:pPr>
              <a:buFont typeface="+mj-lt"/>
              <a:buAutoNum type="arabicPeriod"/>
            </a:pPr>
            <a:r>
              <a:rPr lang="en-US" sz="2200" b="1" dirty="0">
                <a:latin typeface="Times New Roman" panose="02020603050405020304" pitchFamily="18" charset="0"/>
                <a:cs typeface="Times New Roman" panose="02020603050405020304" pitchFamily="18" charset="0"/>
              </a:rPr>
              <a:t>Resource Inefficiency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Suboptimal utilization of existing road infrastructure and traffic control systems.</a:t>
            </a:r>
          </a:p>
          <a:p>
            <a:pPr algn="just"/>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FB9010A-990F-4D63-043A-01176054ADE5}"/>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1988162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D425645-0E9E-C1A9-484D-EF964AD565A1}"/>
              </a:ext>
            </a:extLst>
          </p:cNvPr>
          <p:cNvPicPr>
            <a:picLocks noGrp="1" noChangeAspect="1"/>
          </p:cNvPicPr>
          <p:nvPr>
            <p:ph idx="1"/>
          </p:nvPr>
        </p:nvPicPr>
        <p:blipFill>
          <a:blip r:embed="rId2"/>
          <a:stretch>
            <a:fillRect/>
          </a:stretch>
        </p:blipFill>
        <p:spPr>
          <a:xfrm>
            <a:off x="838200" y="2011140"/>
            <a:ext cx="10515600" cy="3051748"/>
          </a:xfrm>
          <a:prstGeom prst="rect">
            <a:avLst/>
          </a:prstGeom>
        </p:spPr>
      </p:pic>
      <p:sp>
        <p:nvSpPr>
          <p:cNvPr id="4" name="Slide Number Placeholder 3">
            <a:extLst>
              <a:ext uri="{FF2B5EF4-FFF2-40B4-BE49-F238E27FC236}">
                <a16:creationId xmlns:a16="http://schemas.microsoft.com/office/drawing/2014/main" id="{D1F97A2F-44DC-355B-DA7C-66B6C3BE8D2E}"/>
              </a:ext>
            </a:extLst>
          </p:cNvPr>
          <p:cNvSpPr>
            <a:spLocks noGrp="1"/>
          </p:cNvSpPr>
          <p:nvPr>
            <p:ph type="sldNum" sz="quarter" idx="12"/>
          </p:nvPr>
        </p:nvSpPr>
        <p:spPr/>
        <p:txBody>
          <a:bodyPr/>
          <a:lstStyle/>
          <a:p>
            <a:fld id="{BDCDBBEF-AA6C-4BA6-85B2-A17D7F280E38}" type="slidenum">
              <a:rPr lang="en-US" smtClean="0"/>
              <a:pPr/>
              <a:t>5</a:t>
            </a:fld>
            <a:endParaRPr lang="en-US"/>
          </a:p>
        </p:txBody>
      </p:sp>
      <p:pic>
        <p:nvPicPr>
          <p:cNvPr id="6" name="Picture 5">
            <a:extLst>
              <a:ext uri="{FF2B5EF4-FFF2-40B4-BE49-F238E27FC236}">
                <a16:creationId xmlns:a16="http://schemas.microsoft.com/office/drawing/2014/main" id="{E8E0CD3D-FD17-7C49-7615-0FC3585BF920}"/>
              </a:ext>
            </a:extLst>
          </p:cNvPr>
          <p:cNvPicPr>
            <a:picLocks noChangeAspect="1"/>
          </p:cNvPicPr>
          <p:nvPr/>
        </p:nvPicPr>
        <p:blipFill>
          <a:blip r:embed="rId3"/>
          <a:stretch>
            <a:fillRect/>
          </a:stretch>
        </p:blipFill>
        <p:spPr>
          <a:xfrm>
            <a:off x="1357163" y="490889"/>
            <a:ext cx="9692640" cy="5707780"/>
          </a:xfrm>
          <a:prstGeom prst="rect">
            <a:avLst/>
          </a:prstGeom>
          <a:ln>
            <a:solidFill>
              <a:schemeClr val="tx1">
                <a:lumMod val="95000"/>
                <a:lumOff val="5000"/>
              </a:schemeClr>
            </a:solidFill>
          </a:ln>
        </p:spPr>
      </p:pic>
    </p:spTree>
    <p:extLst>
      <p:ext uri="{BB962C8B-B14F-4D97-AF65-F5344CB8AC3E}">
        <p14:creationId xmlns:p14="http://schemas.microsoft.com/office/powerpoint/2010/main" val="2414241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2A19A-4F2C-7C41-B83A-9AC85252C19D}"/>
              </a:ext>
            </a:extLst>
          </p:cNvPr>
          <p:cNvSpPr>
            <a:spLocks noGrp="1"/>
          </p:cNvSpPr>
          <p:nvPr>
            <p:ph type="title"/>
          </p:nvPr>
        </p:nvSpPr>
        <p:spPr>
          <a:xfrm>
            <a:off x="838200" y="136525"/>
            <a:ext cx="10515600" cy="1325563"/>
          </a:xfrm>
        </p:spPr>
        <p:txBody>
          <a:bodyPr/>
          <a:lstStyle/>
          <a:p>
            <a:r>
              <a:rPr lang="en-US" dirty="0">
                <a:latin typeface="Times New Roman"/>
                <a:cs typeface="Times New Roman"/>
              </a:rPr>
              <a:t>Objectives of the work </a:t>
            </a:r>
            <a:endParaRPr lang="en-IN" dirty="0"/>
          </a:p>
        </p:txBody>
      </p:sp>
      <p:sp>
        <p:nvSpPr>
          <p:cNvPr id="4" name="Slide Number Placeholder 3">
            <a:extLst>
              <a:ext uri="{FF2B5EF4-FFF2-40B4-BE49-F238E27FC236}">
                <a16:creationId xmlns:a16="http://schemas.microsoft.com/office/drawing/2014/main" id="{1E18720D-CA3B-87FC-503A-44EEAC6EBD47}"/>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7" name="Rectangle 3">
            <a:extLst>
              <a:ext uri="{FF2B5EF4-FFF2-40B4-BE49-F238E27FC236}">
                <a16:creationId xmlns:a16="http://schemas.microsoft.com/office/drawing/2014/main" id="{75D8D344-52D8-3F21-E148-254BBD3C8E8F}"/>
              </a:ext>
            </a:extLst>
          </p:cNvPr>
          <p:cNvSpPr>
            <a:spLocks noGrp="1" noChangeArrowheads="1"/>
          </p:cNvSpPr>
          <p:nvPr>
            <p:ph idx="1"/>
          </p:nvPr>
        </p:nvSpPr>
        <p:spPr bwMode="auto">
          <a:xfrm>
            <a:off x="838200" y="1660650"/>
            <a:ext cx="1073860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redict Traffic Patterns: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use machine learning models for forecasting traffic trends based on historical and real-time data, enabling proactive traffic management.</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 Traffic Signal Timings: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 adaptive system that dynamically adjusts traffic signals in real time, reducing congestion and improving vehicle flow.</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Road Safety</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incorporate computer vision techniques for accident detection and obstacle identification, enabling quicker responses to emergencies.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Minimize Environmental Impact</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vehicle idling and travel times, which in turn lowers fuel consumption and carbon emissions, promoting sustainable urban mobility.</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Route Optimization: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offer drivers the most efficient routes based on real-time traffic conditions, </a:t>
            </a:r>
            <a:r>
              <a:rPr lang="en-US" altLang="en-US" sz="2000" dirty="0">
                <a:latin typeface="Times New Roman" panose="02020603050405020304" pitchFamily="18" charset="0"/>
                <a:cs typeface="Times New Roman" panose="02020603050405020304" pitchFamily="18" charset="0"/>
              </a:rPr>
              <a:t>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nsuring quicker and smoother commutes.</a:t>
            </a:r>
          </a:p>
        </p:txBody>
      </p:sp>
    </p:spTree>
    <p:extLst>
      <p:ext uri="{BB962C8B-B14F-4D97-AF65-F5344CB8AC3E}">
        <p14:creationId xmlns:p14="http://schemas.microsoft.com/office/powerpoint/2010/main" val="3402190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Methodology </a:t>
            </a:r>
          </a:p>
        </p:txBody>
      </p:sp>
      <p:sp>
        <p:nvSpPr>
          <p:cNvPr id="3" name="Content Placeholder 2"/>
          <p:cNvSpPr>
            <a:spLocks noGrp="1"/>
          </p:cNvSpPr>
          <p:nvPr>
            <p:ph idx="1"/>
          </p:nvPr>
        </p:nvSpPr>
        <p:spPr>
          <a:xfrm>
            <a:off x="838200" y="1825625"/>
            <a:ext cx="6754792" cy="4351338"/>
          </a:xfrm>
        </p:spPr>
        <p:txBody>
          <a:bodyPr/>
          <a:lstStyle/>
          <a:p>
            <a:pPr algn="just"/>
            <a:r>
              <a:rPr lang="en-US" sz="2400" b="1" dirty="0">
                <a:latin typeface="Times New Roman" panose="02020603050405020304" pitchFamily="18" charset="0"/>
                <a:cs typeface="Times New Roman" panose="02020603050405020304" pitchFamily="18" charset="0"/>
              </a:rPr>
              <a:t>Data Collection</a:t>
            </a:r>
            <a:r>
              <a:rPr lang="en-US" sz="2400" dirty="0">
                <a:latin typeface="Times New Roman" panose="02020603050405020304" pitchFamily="18" charset="0"/>
                <a:cs typeface="Times New Roman" panose="02020603050405020304" pitchFamily="18" charset="0"/>
              </a:rPr>
              <a:t>: Collect a diverse dataset of real time and past traffic information from several origins.</a:t>
            </a:r>
          </a:p>
          <a:p>
            <a:pPr algn="just"/>
            <a:r>
              <a:rPr lang="en-US" sz="2400" b="1" dirty="0">
                <a:latin typeface="Times New Roman" panose="02020603050405020304" pitchFamily="18" charset="0"/>
                <a:cs typeface="Times New Roman" panose="02020603050405020304" pitchFamily="18" charset="0"/>
              </a:rPr>
              <a:t>Data Preprocessing</a:t>
            </a:r>
            <a:r>
              <a:rPr lang="en-US" sz="2400" dirty="0">
                <a:latin typeface="Times New Roman" panose="02020603050405020304" pitchFamily="18" charset="0"/>
                <a:cs typeface="Times New Roman" panose="02020603050405020304" pitchFamily="18" charset="0"/>
              </a:rPr>
              <a:t>:  Data Standardization, Outlier Removal, Feature Selection</a:t>
            </a:r>
          </a:p>
          <a:p>
            <a:pPr algn="just"/>
            <a:r>
              <a:rPr lang="en-US" sz="2400" b="1" dirty="0">
                <a:latin typeface="Times New Roman" panose="02020603050405020304" pitchFamily="18" charset="0"/>
                <a:cs typeface="Times New Roman" panose="02020603050405020304" pitchFamily="18" charset="0"/>
              </a:rPr>
              <a:t>Feature Engineering</a:t>
            </a:r>
            <a:r>
              <a:rPr lang="en-US" sz="2400" dirty="0">
                <a:latin typeface="Times New Roman" panose="02020603050405020304" pitchFamily="18" charset="0"/>
                <a:cs typeface="Times New Roman" panose="02020603050405020304" pitchFamily="18" charset="0"/>
              </a:rPr>
              <a:t>: Extract relevant features from the preprocessed real time data that are essential for identifying signs of traffic system. Involves Traffic Density Estimation, Speed and Flow Analysis, Weather Impact Modeling and pattern recognition.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7" name="Picture 6">
            <a:extLst>
              <a:ext uri="{FF2B5EF4-FFF2-40B4-BE49-F238E27FC236}">
                <a16:creationId xmlns:a16="http://schemas.microsoft.com/office/drawing/2014/main" id="{BDA44365-97DC-391B-9512-0B9C4CEF4F2F}"/>
              </a:ext>
            </a:extLst>
          </p:cNvPr>
          <p:cNvPicPr>
            <a:picLocks noChangeAspect="1"/>
          </p:cNvPicPr>
          <p:nvPr/>
        </p:nvPicPr>
        <p:blipFill>
          <a:blip r:embed="rId2"/>
          <a:stretch>
            <a:fillRect/>
          </a:stretch>
        </p:blipFill>
        <p:spPr>
          <a:xfrm>
            <a:off x="8079775" y="74949"/>
            <a:ext cx="3943153" cy="6721475"/>
          </a:xfrm>
          <a:prstGeom prst="rect">
            <a:avLst/>
          </a:prstGeom>
        </p:spPr>
      </p:pic>
    </p:spTree>
    <p:extLst>
      <p:ext uri="{BB962C8B-B14F-4D97-AF65-F5344CB8AC3E}">
        <p14:creationId xmlns:p14="http://schemas.microsoft.com/office/powerpoint/2010/main" val="2285240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98788-53DD-FC3C-099B-68B89C2DF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E4613-EA90-DA95-816F-08A40B33A3D0}"/>
              </a:ext>
            </a:extLst>
          </p:cNvPr>
          <p:cNvSpPr>
            <a:spLocks noGrp="1"/>
          </p:cNvSpPr>
          <p:nvPr>
            <p:ph type="title"/>
          </p:nvPr>
        </p:nvSpPr>
        <p:spPr>
          <a:xfrm>
            <a:off x="838200" y="365126"/>
            <a:ext cx="10515600" cy="977114"/>
          </a:xfrm>
        </p:spPr>
        <p:txBody>
          <a:bodyPr/>
          <a:lstStyle/>
          <a:p>
            <a:r>
              <a:rPr lang="en-US" dirty="0">
                <a:latin typeface="Times New Roman" panose="02020603050405020304" pitchFamily="18" charset="0"/>
                <a:cs typeface="Times New Roman" panose="02020603050405020304" pitchFamily="18" charset="0"/>
              </a:rPr>
              <a:t>Methodology used</a:t>
            </a:r>
          </a:p>
        </p:txBody>
      </p:sp>
      <p:sp>
        <p:nvSpPr>
          <p:cNvPr id="3" name="Content Placeholder 2">
            <a:extLst>
              <a:ext uri="{FF2B5EF4-FFF2-40B4-BE49-F238E27FC236}">
                <a16:creationId xmlns:a16="http://schemas.microsoft.com/office/drawing/2014/main" id="{8D7AAD9A-8B49-5BE1-5972-9509193F6B50}"/>
              </a:ext>
            </a:extLst>
          </p:cNvPr>
          <p:cNvSpPr>
            <a:spLocks noGrp="1"/>
          </p:cNvSpPr>
          <p:nvPr>
            <p:ph idx="1"/>
          </p:nvPr>
        </p:nvSpPr>
        <p:spPr>
          <a:xfrm>
            <a:off x="838200" y="1825625"/>
            <a:ext cx="10654717" cy="4351338"/>
          </a:xfrm>
        </p:spPr>
        <p:txBody>
          <a:bodyPr>
            <a:normAutofit/>
          </a:bodyPr>
          <a:lstStyle/>
          <a:p>
            <a:pPr algn="just"/>
            <a:r>
              <a:rPr lang="en-US" sz="2400" b="1" dirty="0">
                <a:latin typeface="Times New Roman" panose="02020603050405020304" pitchFamily="18" charset="0"/>
                <a:cs typeface="Times New Roman" panose="02020603050405020304" pitchFamily="18" charset="0"/>
              </a:rPr>
              <a:t>Labeling</a:t>
            </a:r>
            <a:r>
              <a:rPr lang="en-US" sz="2400" dirty="0">
                <a:latin typeface="Times New Roman" panose="02020603050405020304" pitchFamily="18" charset="0"/>
                <a:cs typeface="Times New Roman" panose="02020603050405020304" pitchFamily="18" charset="0"/>
              </a:rPr>
              <a:t>: The labeling process should be in accordance with the prescribed standard rules of traffic management so that accuracy and dependability are sustained within the system's forecasts..</a:t>
            </a:r>
          </a:p>
          <a:p>
            <a:pPr algn="just"/>
            <a:r>
              <a:rPr lang="en-US" sz="2400" b="1" dirty="0">
                <a:latin typeface="Times New Roman" panose="02020603050405020304" pitchFamily="18" charset="0"/>
                <a:cs typeface="Times New Roman" panose="02020603050405020304" pitchFamily="18" charset="0"/>
              </a:rPr>
              <a:t>Data Splitting</a:t>
            </a:r>
            <a:r>
              <a:rPr lang="en-US" sz="2400" dirty="0">
                <a:latin typeface="Times New Roman" panose="02020603050405020304" pitchFamily="18" charset="0"/>
                <a:cs typeface="Times New Roman" panose="02020603050405020304" pitchFamily="18" charset="0"/>
              </a:rPr>
              <a:t>: Divide the dataset into three subsets for model development and testing 70% of the data for training the LSTM model 30% (21% testing &amp; 9% validation) of the data for tuning hyperparameters and preventing overfitting.</a:t>
            </a:r>
          </a:p>
          <a:p>
            <a:pPr algn="just"/>
            <a:r>
              <a:rPr lang="en-US" sz="2400" b="1" dirty="0">
                <a:latin typeface="Times New Roman" panose="02020603050405020304" pitchFamily="18" charset="0"/>
                <a:cs typeface="Times New Roman" panose="02020603050405020304" pitchFamily="18" charset="0"/>
              </a:rPr>
              <a:t>Model Evaluation</a:t>
            </a:r>
            <a:r>
              <a:rPr lang="en-US" sz="2400" dirty="0">
                <a:latin typeface="Times New Roman" panose="02020603050405020304" pitchFamily="18" charset="0"/>
                <a:cs typeface="Times New Roman" panose="02020603050405020304" pitchFamily="18" charset="0"/>
              </a:rPr>
              <a:t>: In this we would have define the accuracy of the model by training and testing the data and then using maps and matrix we will have the model final output.</a:t>
            </a:r>
          </a:p>
        </p:txBody>
      </p:sp>
      <p:sp>
        <p:nvSpPr>
          <p:cNvPr id="4" name="Slide Number Placeholder 3">
            <a:extLst>
              <a:ext uri="{FF2B5EF4-FFF2-40B4-BE49-F238E27FC236}">
                <a16:creationId xmlns:a16="http://schemas.microsoft.com/office/drawing/2014/main" id="{C5490383-BBC5-21EA-EBF5-ADEC838EF43B}"/>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4260044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FF3C-0FB9-2A98-21CD-59A2622AC43C}"/>
              </a:ext>
            </a:extLst>
          </p:cNvPr>
          <p:cNvSpPr>
            <a:spLocks noGrp="1"/>
          </p:cNvSpPr>
          <p:nvPr>
            <p:ph type="title"/>
          </p:nvPr>
        </p:nvSpPr>
        <p:spPr>
          <a:xfrm>
            <a:off x="838200" y="394283"/>
            <a:ext cx="10515600" cy="929305"/>
          </a:xfrm>
        </p:spPr>
        <p:txBody>
          <a:bodyPr>
            <a:normAutofit fontScale="90000"/>
          </a:bodyPr>
          <a:lstStyle/>
          <a:p>
            <a:r>
              <a:rPr lang="en-US" spc="-10" dirty="0">
                <a:latin typeface="Times New Roman"/>
                <a:cs typeface="Times New Roman"/>
              </a:rPr>
              <a:t>Results and Outputs</a:t>
            </a:r>
            <a:br>
              <a:rPr lang="en-US" spc="-10" dirty="0">
                <a:latin typeface="Times New Roman"/>
                <a:cs typeface="Times New Roman"/>
              </a:rPr>
            </a:br>
            <a:endParaRPr lang="en-IN" dirty="0"/>
          </a:p>
        </p:txBody>
      </p:sp>
      <p:sp>
        <p:nvSpPr>
          <p:cNvPr id="4" name="Slide Number Placeholder 3">
            <a:extLst>
              <a:ext uri="{FF2B5EF4-FFF2-40B4-BE49-F238E27FC236}">
                <a16:creationId xmlns:a16="http://schemas.microsoft.com/office/drawing/2014/main" id="{079544BA-48C0-0494-2035-474021044761}"/>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1">
            <a:extLst>
              <a:ext uri="{FF2B5EF4-FFF2-40B4-BE49-F238E27FC236}">
                <a16:creationId xmlns:a16="http://schemas.microsoft.com/office/drawing/2014/main" id="{1BAD445D-28CC-635F-C163-7B570483F20B}"/>
              </a:ext>
            </a:extLst>
          </p:cNvPr>
          <p:cNvSpPr>
            <a:spLocks noGrp="1" noChangeArrowheads="1"/>
          </p:cNvSpPr>
          <p:nvPr>
            <p:ph idx="1"/>
          </p:nvPr>
        </p:nvSpPr>
        <p:spPr bwMode="auto">
          <a:xfrm>
            <a:off x="613347" y="1477476"/>
            <a:ext cx="10740453" cy="3990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00000"/>
              </a:lnSpc>
            </a:pPr>
            <a:r>
              <a:rPr lang="en-US" sz="2000" b="1" dirty="0">
                <a:latin typeface="Times New Roman" panose="02020603050405020304" pitchFamily="18" charset="0"/>
                <a:cs typeface="Times New Roman" panose="02020603050405020304" pitchFamily="18" charset="0"/>
              </a:rPr>
              <a:t>Real-Time Traffic Optimization: </a:t>
            </a:r>
            <a:r>
              <a:rPr lang="en-US" sz="2000" dirty="0">
                <a:latin typeface="Times New Roman" panose="02020603050405020304" pitchFamily="18" charset="0"/>
                <a:cs typeface="Times New Roman" panose="02020603050405020304" pitchFamily="18" charset="0"/>
              </a:rPr>
              <a:t>Dynamically adjusts traffic flow by responding to current conditions at intersections and roadways.</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lnSpc>
                <a:spcPct val="100000"/>
              </a:lnSpc>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Adaptive Driving Strategies: </a:t>
            </a:r>
            <a:r>
              <a:rPr lang="en-US" sz="2000" dirty="0">
                <a:latin typeface="Times New Roman" panose="02020603050405020304" pitchFamily="18" charset="0"/>
                <a:cs typeface="Times New Roman" panose="02020603050405020304" pitchFamily="18" charset="0"/>
              </a:rPr>
              <a:t>Promotes smarter driving decisions based on live traffic analysis.</a:t>
            </a:r>
          </a:p>
          <a:p>
            <a:pPr algn="just">
              <a:lnSpc>
                <a:spcPct val="100000"/>
              </a:lnSpc>
            </a:pPr>
            <a:r>
              <a:rPr lang="en-US" sz="2000" b="1" dirty="0">
                <a:latin typeface="Times New Roman" panose="02020603050405020304" pitchFamily="18" charset="0"/>
                <a:cs typeface="Times New Roman" panose="02020603050405020304" pitchFamily="18" charset="0"/>
              </a:rPr>
              <a:t>Congestion Detection and Rerouting: </a:t>
            </a:r>
            <a:r>
              <a:rPr lang="en-US" sz="2000" dirty="0">
                <a:latin typeface="Times New Roman" panose="02020603050405020304" pitchFamily="18" charset="0"/>
                <a:cs typeface="Times New Roman" panose="02020603050405020304" pitchFamily="18" charset="0"/>
              </a:rPr>
              <a:t>Identifies potential congestion points on highways and busy routes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lnSpc>
                <a:spcPct val="100000"/>
              </a:lnSpc>
            </a:pPr>
            <a:r>
              <a:rPr lang="en-US" sz="2000" b="1" dirty="0">
                <a:latin typeface="Times New Roman" panose="02020603050405020304" pitchFamily="18" charset="0"/>
                <a:cs typeface="Times New Roman" panose="02020603050405020304" pitchFamily="18" charset="0"/>
              </a:rPr>
              <a:t>Integration of Predictive Models : </a:t>
            </a:r>
            <a:r>
              <a:rPr lang="en-US" sz="2000" dirty="0">
                <a:latin typeface="Times New Roman" panose="02020603050405020304" pitchFamily="18" charset="0"/>
                <a:cs typeface="Times New Roman" panose="02020603050405020304" pitchFamily="18" charset="0"/>
              </a:rPr>
              <a:t>Uses computer models to simulate and forecast future traffic conditions</a:t>
            </a:r>
          </a:p>
          <a:p>
            <a:pPr algn="just">
              <a:lnSpc>
                <a:spcPct val="100000"/>
              </a:lnSpc>
            </a:pPr>
            <a:r>
              <a:rPr lang="en-US" sz="2000" b="1" dirty="0">
                <a:latin typeface="Times New Roman" panose="02020603050405020304" pitchFamily="18" charset="0"/>
                <a:cs typeface="Times New Roman" panose="02020603050405020304" pitchFamily="18" charset="0"/>
              </a:rPr>
              <a:t>AI and ML Algorithm Application: </a:t>
            </a:r>
            <a:r>
              <a:rPr lang="en-US" sz="2000" dirty="0">
                <a:latin typeface="Times New Roman" panose="02020603050405020304" pitchFamily="18" charset="0"/>
                <a:cs typeface="Times New Roman" panose="02020603050405020304" pitchFamily="18" charset="0"/>
              </a:rPr>
              <a:t>Applies intelligent algorithms to analyze incoming data and make decisions in real time.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00000"/>
              </a:lnSpc>
              <a:spcBef>
                <a:spcPct val="0"/>
              </a:spcBef>
              <a:spcAft>
                <a:spcPct val="0"/>
              </a:spcAft>
              <a:buClrTx/>
              <a:buSzTx/>
              <a:tabLst/>
            </a:pPr>
            <a:r>
              <a:rPr lang="en-US" sz="2000" b="1" dirty="0">
                <a:latin typeface="Times New Roman" panose="02020603050405020304" pitchFamily="18" charset="0"/>
                <a:cs typeface="Times New Roman" panose="02020603050405020304" pitchFamily="18" charset="0"/>
              </a:rPr>
              <a:t>Proactive Traffic Control: </a:t>
            </a:r>
            <a:r>
              <a:rPr lang="en-US" sz="2000" dirty="0">
                <a:latin typeface="Times New Roman" panose="02020603050405020304" pitchFamily="18" charset="0"/>
                <a:cs typeface="Times New Roman" panose="02020603050405020304" pitchFamily="18" charset="0"/>
              </a:rPr>
              <a:t>Predictive models will allow traffic authorities to anticipate congestion and implement measures before issues arise.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619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EE35D2-CBA2-98C0-ECA8-9321213D487D}"/>
              </a:ext>
            </a:extLst>
          </p:cNvPr>
          <p:cNvSpPr>
            <a:spLocks noGrp="1"/>
          </p:cNvSpPr>
          <p:nvPr>
            <p:ph type="sldNum" sz="quarter" idx="12"/>
          </p:nvPr>
        </p:nvSpPr>
        <p:spPr/>
        <p:txBody>
          <a:bodyPr/>
          <a:lstStyle/>
          <a:p>
            <a:fld id="{BDCDBBEF-AA6C-4BA6-85B2-A17D7F280E38}" type="slidenum">
              <a:rPr lang="en-US" smtClean="0"/>
              <a:pPr/>
              <a:t>10</a:t>
            </a:fld>
            <a:endParaRPr lang="en-US"/>
          </a:p>
        </p:txBody>
      </p:sp>
      <p:sp>
        <p:nvSpPr>
          <p:cNvPr id="7" name="Rectangle 3">
            <a:extLst>
              <a:ext uri="{FF2B5EF4-FFF2-40B4-BE49-F238E27FC236}">
                <a16:creationId xmlns:a16="http://schemas.microsoft.com/office/drawing/2014/main" id="{18089F1F-AA8C-C887-65F8-2319E1D9E71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4">
            <a:extLst>
              <a:ext uri="{FF2B5EF4-FFF2-40B4-BE49-F238E27FC236}">
                <a16:creationId xmlns:a16="http://schemas.microsoft.com/office/drawing/2014/main" id="{9D89D81A-C506-1183-7AAB-A5363FE8CD81}"/>
              </a:ext>
            </a:extLst>
          </p:cNvPr>
          <p:cNvSpPr>
            <a:spLocks noChangeArrowheads="1"/>
          </p:cNvSpPr>
          <p:nvPr/>
        </p:nvSpPr>
        <p:spPr bwMode="auto">
          <a:xfrm>
            <a:off x="152399" y="152400"/>
            <a:ext cx="12308541" cy="4491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4C9AD9EA-9AE1-173A-7078-2D672FF5B184}"/>
              </a:ext>
            </a:extLst>
          </p:cNvPr>
          <p:cNvPicPr>
            <a:picLocks noChangeAspect="1"/>
          </p:cNvPicPr>
          <p:nvPr/>
        </p:nvPicPr>
        <p:blipFill>
          <a:blip r:embed="rId2"/>
          <a:stretch>
            <a:fillRect/>
          </a:stretch>
        </p:blipFill>
        <p:spPr>
          <a:xfrm>
            <a:off x="715814" y="1089731"/>
            <a:ext cx="5380186" cy="4678537"/>
          </a:xfrm>
          <a:prstGeom prst="rect">
            <a:avLst/>
          </a:prstGeom>
        </p:spPr>
      </p:pic>
      <p:pic>
        <p:nvPicPr>
          <p:cNvPr id="11" name="Picture 10">
            <a:extLst>
              <a:ext uri="{FF2B5EF4-FFF2-40B4-BE49-F238E27FC236}">
                <a16:creationId xmlns:a16="http://schemas.microsoft.com/office/drawing/2014/main" id="{22EF339B-BA87-D725-D570-3497B4009E09}"/>
              </a:ext>
            </a:extLst>
          </p:cNvPr>
          <p:cNvPicPr>
            <a:picLocks noChangeAspect="1"/>
          </p:cNvPicPr>
          <p:nvPr/>
        </p:nvPicPr>
        <p:blipFill>
          <a:blip r:embed="rId3"/>
          <a:stretch>
            <a:fillRect/>
          </a:stretch>
        </p:blipFill>
        <p:spPr>
          <a:xfrm>
            <a:off x="6050276" y="1214204"/>
            <a:ext cx="5425910" cy="4554064"/>
          </a:xfrm>
          <a:prstGeom prst="rect">
            <a:avLst/>
          </a:prstGeom>
        </p:spPr>
      </p:pic>
    </p:spTree>
    <p:extLst>
      <p:ext uri="{BB962C8B-B14F-4D97-AF65-F5344CB8AC3E}">
        <p14:creationId xmlns:p14="http://schemas.microsoft.com/office/powerpoint/2010/main" val="940036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E853A-994D-E2CF-44FC-B76CBBEF9197}"/>
              </a:ext>
            </a:extLst>
          </p:cNvPr>
          <p:cNvSpPr>
            <a:spLocks noGrp="1"/>
          </p:cNvSpPr>
          <p:nvPr>
            <p:ph type="title"/>
          </p:nvPr>
        </p:nvSpPr>
        <p:spPr>
          <a:xfrm>
            <a:off x="838200" y="385894"/>
            <a:ext cx="10515600" cy="822121"/>
          </a:xfrm>
        </p:spPr>
        <p:txBody>
          <a:bodyPr/>
          <a:lstStyle/>
          <a:p>
            <a:r>
              <a:rPr lang="en-US" spc="-10" dirty="0">
                <a:latin typeface="Times New Roman"/>
                <a:cs typeface="Times New Roman"/>
              </a:rPr>
              <a:t>Conclusion</a:t>
            </a:r>
            <a:endParaRPr lang="en-IN" dirty="0"/>
          </a:p>
        </p:txBody>
      </p:sp>
      <p:sp>
        <p:nvSpPr>
          <p:cNvPr id="4" name="Slide Number Placeholder 3">
            <a:extLst>
              <a:ext uri="{FF2B5EF4-FFF2-40B4-BE49-F238E27FC236}">
                <a16:creationId xmlns:a16="http://schemas.microsoft.com/office/drawing/2014/main" id="{1655E7E5-6365-E9D6-8404-A84B777822EC}"/>
              </a:ext>
            </a:extLst>
          </p:cNvPr>
          <p:cNvSpPr>
            <a:spLocks noGrp="1"/>
          </p:cNvSpPr>
          <p:nvPr>
            <p:ph type="sldNum" sz="quarter" idx="12"/>
          </p:nvPr>
        </p:nvSpPr>
        <p:spPr/>
        <p:txBody>
          <a:bodyPr/>
          <a:lstStyle/>
          <a:p>
            <a:fld id="{BDCDBBEF-AA6C-4BA6-85B2-A17D7F280E38}" type="slidenum">
              <a:rPr lang="en-US" smtClean="0"/>
              <a:pPr/>
              <a:t>11</a:t>
            </a:fld>
            <a:endParaRPr lang="en-US"/>
          </a:p>
        </p:txBody>
      </p:sp>
      <p:sp>
        <p:nvSpPr>
          <p:cNvPr id="6" name="Rectangle 2">
            <a:extLst>
              <a:ext uri="{FF2B5EF4-FFF2-40B4-BE49-F238E27FC236}">
                <a16:creationId xmlns:a16="http://schemas.microsoft.com/office/drawing/2014/main" id="{5A4043C1-D92B-55E0-E83D-9AAC450E1D03}"/>
              </a:ext>
            </a:extLst>
          </p:cNvPr>
          <p:cNvSpPr>
            <a:spLocks noGrp="1" noChangeArrowheads="1"/>
          </p:cNvSpPr>
          <p:nvPr>
            <p:ph idx="1"/>
          </p:nvPr>
        </p:nvSpPr>
        <p:spPr bwMode="auto">
          <a:xfrm>
            <a:off x="838200" y="1382286"/>
            <a:ext cx="1021848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Addressing Urban Transportation Challenges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Tackles critical issues such as traffic congestion and inefficiencies in urban transport systems.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Utilization of AI and Machine Learning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Leverages real-time data and intelligent algorithms to analyze and predict traffic behavior.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Optimization of Traffic Signals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AI to adjust signal timings based on current traffic conditions.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IoT Devices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Connects sensors, cameras, and other IoT-enabled devices to collect and process live traffic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Sustainability and Environmental Impact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vehicle idle time, lowering fuel consumption and greenhouse gas emissions.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and Smart City Integration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Compatible with existing smart city infrastructure for seamless deployment.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777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9CE22-CC0E-9DC2-93C3-89D988B9544E}"/>
              </a:ext>
            </a:extLst>
          </p:cNvPr>
          <p:cNvSpPr>
            <a:spLocks noGrp="1"/>
          </p:cNvSpPr>
          <p:nvPr>
            <p:ph type="title"/>
          </p:nvPr>
        </p:nvSpPr>
        <p:spPr>
          <a:xfrm>
            <a:off x="954147" y="136525"/>
            <a:ext cx="10515600" cy="1325563"/>
          </a:xfrm>
        </p:spPr>
        <p:txBody>
          <a:bodyPr/>
          <a:lstStyle/>
          <a:p>
            <a:r>
              <a:rPr lang="en-US" dirty="0">
                <a:latin typeface="Times New Roman"/>
                <a:cs typeface="Times New Roman"/>
              </a:rPr>
              <a:t>Future Scope</a:t>
            </a:r>
            <a:br>
              <a:rPr lang="en-US" dirty="0">
                <a:latin typeface="Times New Roman"/>
                <a:cs typeface="Times New Roman"/>
              </a:rPr>
            </a:br>
            <a:endParaRPr lang="en-IN" dirty="0"/>
          </a:p>
        </p:txBody>
      </p:sp>
      <p:sp>
        <p:nvSpPr>
          <p:cNvPr id="4" name="Slide Number Placeholder 3">
            <a:extLst>
              <a:ext uri="{FF2B5EF4-FFF2-40B4-BE49-F238E27FC236}">
                <a16:creationId xmlns:a16="http://schemas.microsoft.com/office/drawing/2014/main" id="{0DE6822F-50CA-3821-DF3B-03A9DBB57711}"/>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1">
            <a:extLst>
              <a:ext uri="{FF2B5EF4-FFF2-40B4-BE49-F238E27FC236}">
                <a16:creationId xmlns:a16="http://schemas.microsoft.com/office/drawing/2014/main" id="{42830D7A-A328-F122-5D1D-74DAC01A56DD}"/>
              </a:ext>
            </a:extLst>
          </p:cNvPr>
          <p:cNvSpPr>
            <a:spLocks noGrp="1" noChangeArrowheads="1"/>
          </p:cNvSpPr>
          <p:nvPr>
            <p:ph idx="1"/>
          </p:nvPr>
        </p:nvSpPr>
        <p:spPr bwMode="auto">
          <a:xfrm>
            <a:off x="954147" y="1462088"/>
            <a:ext cx="1019332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Advancements in Deep Learning Models: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neural network architectures and hybrid algorithms will enhance prediction accuracy.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Real-Time Data Sources</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data fusion will enable highly accurate short-term and long-term traffic flow forecasting.</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Multimodal Traffic Systems</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traffic systems will account for the dynamics of not just vehicles but also pedestrians, cyclists, and public transportation.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Adaptive Traffic Signal Control</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features for managing large public events, where traffic patterns are unpredictable, by integrating event-specific traffic control strategies.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Safety and Sustainability: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Continuously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 traffic prediction models using deep learning techniques to handle more complex traffic scenarios and provide more accurate forecasts.</a:t>
            </a:r>
          </a:p>
        </p:txBody>
      </p:sp>
    </p:spTree>
    <p:extLst>
      <p:ext uri="{BB962C8B-B14F-4D97-AF65-F5344CB8AC3E}">
        <p14:creationId xmlns:p14="http://schemas.microsoft.com/office/powerpoint/2010/main" val="4075182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2D26D-E4BD-BF50-6558-498211B16816}"/>
              </a:ext>
            </a:extLst>
          </p:cNvPr>
          <p:cNvSpPr>
            <a:spLocks noGrp="1"/>
          </p:cNvSpPr>
          <p:nvPr>
            <p:ph type="title"/>
          </p:nvPr>
        </p:nvSpPr>
        <p:spPr/>
        <p:txBody>
          <a:bodyPr/>
          <a:lstStyle/>
          <a:p>
            <a:r>
              <a:rPr lang="en-US" dirty="0">
                <a:latin typeface="Times New Roman"/>
                <a:cs typeface="Times New Roman"/>
              </a:rPr>
              <a:t>References</a:t>
            </a:r>
            <a:br>
              <a:rPr lang="en-US" dirty="0"/>
            </a:br>
            <a:endParaRPr lang="en-IN" dirty="0"/>
          </a:p>
        </p:txBody>
      </p:sp>
      <p:sp>
        <p:nvSpPr>
          <p:cNvPr id="3" name="Content Placeholder 2">
            <a:extLst>
              <a:ext uri="{FF2B5EF4-FFF2-40B4-BE49-F238E27FC236}">
                <a16:creationId xmlns:a16="http://schemas.microsoft.com/office/drawing/2014/main" id="{99C100E0-50FC-2103-B81E-762BF626B134}"/>
              </a:ext>
            </a:extLst>
          </p:cNvPr>
          <p:cNvSpPr>
            <a:spLocks noGrp="1"/>
          </p:cNvSpPr>
          <p:nvPr>
            <p:ph idx="1"/>
          </p:nvPr>
        </p:nvSpPr>
        <p:spPr>
          <a:xfrm>
            <a:off x="838200" y="1247791"/>
            <a:ext cx="11247120" cy="5108559"/>
          </a:xfrm>
        </p:spPr>
        <p:txBody>
          <a:bodyPr>
            <a:noAutofit/>
          </a:bodyPr>
          <a:lstStyle/>
          <a:p>
            <a:pPr algn="just"/>
            <a:r>
              <a:rPr lang="en-IN" sz="1800" dirty="0">
                <a:latin typeface="Times New Roman" panose="02020603050405020304" pitchFamily="18" charset="0"/>
                <a:cs typeface="Times New Roman" panose="02020603050405020304" pitchFamily="18" charset="0"/>
              </a:rPr>
              <a:t>Smart Traffic Control and Prediction Model Empowered with 5G Technology, Artificial Intelligence and Machine Learning, Vaishnav Datey; Sandeep Prabhu 2023 International Conference on Ambient Intelligence, Knowledge Informatics and Industrial Electronics (AIKIIE)https://doi.org/10.1109/AIKIIE60097.2023.10389965</a:t>
            </a:r>
          </a:p>
          <a:p>
            <a:pPr algn="just"/>
            <a:r>
              <a:rPr lang="en-IN" sz="1800" dirty="0">
                <a:latin typeface="Times New Roman" panose="02020603050405020304" pitchFamily="18" charset="0"/>
                <a:cs typeface="Times New Roman" panose="02020603050405020304" pitchFamily="18" charset="0"/>
              </a:rPr>
              <a:t> The Role of Blockchain, AI and IoT for Smart Road Traffic Management System Ashish Sharma; Yogesh Awasthi; Sunil Kumar 2020 IEEE India Council International Subsections Conference (INDISCON) https://doi.org/10.1109/INDISCON50162.2020.00065 </a:t>
            </a:r>
          </a:p>
          <a:p>
            <a:pPr algn="just"/>
            <a:r>
              <a:rPr lang="en-IN" sz="1800" dirty="0">
                <a:latin typeface="Times New Roman" panose="02020603050405020304" pitchFamily="18" charset="0"/>
                <a:cs typeface="Times New Roman" panose="02020603050405020304" pitchFamily="18" charset="0"/>
              </a:rPr>
              <a:t>Transformative Horizons: Pioneering the Future of Smart Cities with AI&amp;ML Vanshika Pal; Narinder Yadav; Abhishek Sharma; Suhani Nayak; Sunny Dhaliwal; Sanjay Singla 2024 International Conference on Emerging Innovations and Advanced Computing (INNOCOMP) https://doi.org/10.1109/INNOCOMP63224.2024.000 7 </a:t>
            </a:r>
          </a:p>
          <a:p>
            <a:pPr algn="just"/>
            <a:r>
              <a:rPr lang="en-IN" sz="1800" dirty="0">
                <a:latin typeface="Times New Roman" panose="02020603050405020304" pitchFamily="18" charset="0"/>
                <a:cs typeface="Times New Roman" panose="02020603050405020304" pitchFamily="18" charset="0"/>
              </a:rPr>
              <a:t>Smart Traffic Control System for Dubai: A Simulation Study Using YOLO Algorithms Rabia </a:t>
            </a:r>
            <a:r>
              <a:rPr lang="en-IN" sz="1800" dirty="0" err="1">
                <a:latin typeface="Times New Roman" panose="02020603050405020304" pitchFamily="18" charset="0"/>
                <a:cs typeface="Times New Roman" panose="02020603050405020304" pitchFamily="18" charset="0"/>
              </a:rPr>
              <a:t>Emhamed</a:t>
            </a:r>
            <a:r>
              <a:rPr lang="en-IN" sz="1800" dirty="0">
                <a:latin typeface="Times New Roman" panose="02020603050405020304" pitchFamily="18" charset="0"/>
                <a:cs typeface="Times New Roman" panose="02020603050405020304" pitchFamily="18" charset="0"/>
              </a:rPr>
              <a:t> Al </a:t>
            </a:r>
            <a:r>
              <a:rPr lang="en-IN" sz="1800" dirty="0" err="1">
                <a:latin typeface="Times New Roman" panose="02020603050405020304" pitchFamily="18" charset="0"/>
                <a:cs typeface="Times New Roman" panose="02020603050405020304" pitchFamily="18" charset="0"/>
              </a:rPr>
              <a:t>Mamlook</a:t>
            </a:r>
            <a:r>
              <a:rPr lang="en-IN" sz="1800" dirty="0">
                <a:latin typeface="Times New Roman" panose="02020603050405020304" pitchFamily="18" charset="0"/>
                <a:cs typeface="Times New Roman" panose="02020603050405020304" pitchFamily="18" charset="0"/>
              </a:rPr>
              <a:t>; Mohammad </a:t>
            </a:r>
            <a:r>
              <a:rPr lang="en-IN" sz="1800" dirty="0" err="1">
                <a:latin typeface="Times New Roman" panose="02020603050405020304" pitchFamily="18" charset="0"/>
                <a:cs typeface="Times New Roman" panose="02020603050405020304" pitchFamily="18" charset="0"/>
              </a:rPr>
              <a:t>Zahrawi</a:t>
            </a:r>
            <a:r>
              <a:rPr lang="en-IN" sz="1800" dirty="0">
                <a:latin typeface="Times New Roman" panose="02020603050405020304" pitchFamily="18" charset="0"/>
                <a:cs typeface="Times New Roman" panose="02020603050405020304" pitchFamily="18" charset="0"/>
              </a:rPr>
              <a:t>; Hasan </a:t>
            </a:r>
            <a:r>
              <a:rPr lang="en-IN" sz="1800" dirty="0" err="1">
                <a:latin typeface="Times New Roman" panose="02020603050405020304" pitchFamily="18" charset="0"/>
                <a:cs typeface="Times New Roman" panose="02020603050405020304" pitchFamily="18" charset="0"/>
              </a:rPr>
              <a:t>Gharaibeh</a:t>
            </a:r>
            <a:r>
              <a:rPr lang="en-IN" sz="1800" dirty="0">
                <a:latin typeface="Times New Roman" panose="02020603050405020304" pitchFamily="18" charset="0"/>
                <a:cs typeface="Times New Roman" panose="02020603050405020304" pitchFamily="18" charset="0"/>
              </a:rPr>
              <a:t>; Ahmad </a:t>
            </a:r>
            <a:r>
              <a:rPr lang="en-IN" sz="1800" dirty="0" err="1">
                <a:latin typeface="Times New Roman" panose="02020603050405020304" pitchFamily="18" charset="0"/>
                <a:cs typeface="Times New Roman" panose="02020603050405020304" pitchFamily="18" charset="0"/>
              </a:rPr>
              <a:t>Nasayreh</a:t>
            </a:r>
            <a:r>
              <a:rPr lang="en-IN" sz="1800" dirty="0">
                <a:latin typeface="Times New Roman" panose="02020603050405020304" pitchFamily="18" charset="0"/>
                <a:cs typeface="Times New Roman" panose="02020603050405020304" pitchFamily="18" charset="0"/>
              </a:rPr>
              <a:t>; Sujeet Shresth 2023 IEEE International Conference on Electro Information Technology (</a:t>
            </a:r>
            <a:r>
              <a:rPr lang="en-IN" sz="1800" dirty="0" err="1">
                <a:latin typeface="Times New Roman" panose="02020603050405020304" pitchFamily="18" charset="0"/>
                <a:cs typeface="Times New Roman" panose="02020603050405020304" pitchFamily="18" charset="0"/>
              </a:rPr>
              <a:t>eIT</a:t>
            </a:r>
            <a:r>
              <a:rPr lang="en-IN" sz="1800" dirty="0">
                <a:latin typeface="Times New Roman" panose="02020603050405020304" pitchFamily="18" charset="0"/>
                <a:cs typeface="Times New Roman" panose="02020603050405020304" pitchFamily="18" charset="0"/>
              </a:rPr>
              <a:t>) https://doi.org/10.1109/eIT57321.2023.10187271.</a:t>
            </a:r>
          </a:p>
          <a:p>
            <a:pPr algn="just"/>
            <a:r>
              <a:rPr lang="en-IN" sz="1800" dirty="0">
                <a:latin typeface="Times New Roman" panose="02020603050405020304" pitchFamily="18" charset="0"/>
                <a:cs typeface="Times New Roman" panose="02020603050405020304" pitchFamily="18" charset="0"/>
              </a:rPr>
              <a:t>A Management of Food Supply Chain in Sustainable Smart Cities using Fire Hawk Optimization B </a:t>
            </a:r>
            <a:r>
              <a:rPr lang="en-IN" sz="1800" dirty="0" err="1">
                <a:latin typeface="Times New Roman" panose="02020603050405020304" pitchFamily="18" charset="0"/>
                <a:cs typeface="Times New Roman" panose="02020603050405020304" pitchFamily="18" charset="0"/>
              </a:rPr>
              <a:t>Girirajan</a:t>
            </a:r>
            <a:r>
              <a:rPr lang="en-IN" sz="1800" dirty="0">
                <a:latin typeface="Times New Roman" panose="02020603050405020304" pitchFamily="18" charset="0"/>
                <a:cs typeface="Times New Roman" panose="02020603050405020304" pitchFamily="18" charset="0"/>
              </a:rPr>
              <a:t>; B. Raveendra </a:t>
            </a:r>
            <a:r>
              <a:rPr lang="en-IN" sz="1800" dirty="0" err="1">
                <a:latin typeface="Times New Roman" panose="02020603050405020304" pitchFamily="18" charset="0"/>
                <a:cs typeface="Times New Roman" panose="02020603050405020304" pitchFamily="18" charset="0"/>
              </a:rPr>
              <a:t>Naick</a:t>
            </a:r>
            <a:r>
              <a:rPr lang="en-IN" sz="1800" dirty="0">
                <a:latin typeface="Times New Roman" panose="02020603050405020304" pitchFamily="18" charset="0"/>
                <a:cs typeface="Times New Roman" panose="02020603050405020304" pitchFamily="18" charset="0"/>
              </a:rPr>
              <a:t>; Hassan M. Al </a:t>
            </a:r>
            <a:r>
              <a:rPr lang="en-IN" sz="1800" dirty="0" err="1">
                <a:latin typeface="Times New Roman" panose="02020603050405020304" pitchFamily="18" charset="0"/>
                <a:cs typeface="Times New Roman" panose="02020603050405020304" pitchFamily="18" charset="0"/>
              </a:rPr>
              <a:t>Jawahry</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Revanasiddappa</a:t>
            </a:r>
            <a:r>
              <a:rPr lang="en-IN" sz="1800" dirty="0">
                <a:latin typeface="Times New Roman" panose="02020603050405020304" pitchFamily="18" charset="0"/>
                <a:cs typeface="Times New Roman" panose="02020603050405020304" pitchFamily="18" charset="0"/>
              </a:rPr>
              <a:t>; Rana Veer Samara </a:t>
            </a:r>
            <a:r>
              <a:rPr lang="en-IN" sz="1800" dirty="0" err="1">
                <a:latin typeface="Times New Roman" panose="02020603050405020304" pitchFamily="18" charset="0"/>
                <a:cs typeface="Times New Roman" panose="02020603050405020304" pitchFamily="18" charset="0"/>
              </a:rPr>
              <a:t>Sihman</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Bharattej</a:t>
            </a:r>
            <a:r>
              <a:rPr lang="en-IN" sz="1800" dirty="0">
                <a:latin typeface="Times New Roman" panose="02020603050405020304" pitchFamily="18" charset="0"/>
                <a:cs typeface="Times New Roman" panose="02020603050405020304" pitchFamily="18" charset="0"/>
              </a:rPr>
              <a:t> R 2024 Second International Conference on Data Science and Information System (ICDSIS) https://doi.org/10.1109/ICDSIS61070.2024.1059458 7</a:t>
            </a:r>
          </a:p>
        </p:txBody>
      </p:sp>
      <p:sp>
        <p:nvSpPr>
          <p:cNvPr id="4" name="Slide Number Placeholder 3">
            <a:extLst>
              <a:ext uri="{FF2B5EF4-FFF2-40B4-BE49-F238E27FC236}">
                <a16:creationId xmlns:a16="http://schemas.microsoft.com/office/drawing/2014/main" id="{92B12CD9-6620-9D62-4252-F7965DA9E884}"/>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2322126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0FD3B-2E70-37CE-5551-766807B74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4D82B-029D-D0B2-55C4-1816DAE03624}"/>
              </a:ext>
            </a:extLst>
          </p:cNvPr>
          <p:cNvSpPr>
            <a:spLocks noGrp="1"/>
          </p:cNvSpPr>
          <p:nvPr>
            <p:ph type="title"/>
          </p:nvPr>
        </p:nvSpPr>
        <p:spPr/>
        <p:txBody>
          <a:bodyPr/>
          <a:lstStyle/>
          <a:p>
            <a:r>
              <a:rPr lang="en-US" dirty="0">
                <a:latin typeface="Times New Roman"/>
                <a:cs typeface="Times New Roman"/>
              </a:rPr>
              <a:t>References</a:t>
            </a:r>
            <a:br>
              <a:rPr lang="en-US" dirty="0"/>
            </a:br>
            <a:endParaRPr lang="en-IN" dirty="0"/>
          </a:p>
        </p:txBody>
      </p:sp>
      <p:sp>
        <p:nvSpPr>
          <p:cNvPr id="3" name="Content Placeholder 2">
            <a:extLst>
              <a:ext uri="{FF2B5EF4-FFF2-40B4-BE49-F238E27FC236}">
                <a16:creationId xmlns:a16="http://schemas.microsoft.com/office/drawing/2014/main" id="{946527D3-FE0A-2F9E-9FC3-3D9D01C7BB21}"/>
              </a:ext>
            </a:extLst>
          </p:cNvPr>
          <p:cNvSpPr>
            <a:spLocks noGrp="1"/>
          </p:cNvSpPr>
          <p:nvPr>
            <p:ph idx="1"/>
          </p:nvPr>
        </p:nvSpPr>
        <p:spPr>
          <a:xfrm>
            <a:off x="838200" y="1247791"/>
            <a:ext cx="11247120" cy="5108559"/>
          </a:xfrm>
        </p:spPr>
        <p:txBody>
          <a:bodyPr>
            <a:noAutofit/>
          </a:bodyPr>
          <a:lstStyle/>
          <a:p>
            <a:pPr algn="just"/>
            <a:r>
              <a:rPr lang="en-IN" sz="1800" dirty="0">
                <a:latin typeface="Times New Roman" panose="02020603050405020304" pitchFamily="18" charset="0"/>
                <a:cs typeface="Times New Roman" panose="02020603050405020304" pitchFamily="18" charset="0"/>
              </a:rPr>
              <a:t>RealTime Traffic Management System Using Object Detection based Signal Logic Murthy Jonnalagadda; Sashank </a:t>
            </a:r>
            <a:r>
              <a:rPr lang="en-IN" sz="1800" dirty="0" err="1">
                <a:latin typeface="Times New Roman" panose="02020603050405020304" pitchFamily="18" charset="0"/>
                <a:cs typeface="Times New Roman" panose="02020603050405020304" pitchFamily="18" charset="0"/>
              </a:rPr>
              <a:t>Taduri</a:t>
            </a:r>
            <a:r>
              <a:rPr lang="en-IN" sz="1800" dirty="0">
                <a:latin typeface="Times New Roman" panose="02020603050405020304" pitchFamily="18" charset="0"/>
                <a:cs typeface="Times New Roman" panose="02020603050405020304" pitchFamily="18" charset="0"/>
              </a:rPr>
              <a:t>; Rachana Reddy 2020 IEEE Applied Imagery Pattern Recognition Workshop (AIPR) https://doi.org/10.1109/AIPR50011.2020.9425070.</a:t>
            </a:r>
          </a:p>
          <a:p>
            <a:pPr algn="just"/>
            <a:r>
              <a:rPr lang="en-IN" sz="1800" dirty="0">
                <a:latin typeface="Times New Roman" panose="02020603050405020304" pitchFamily="18" charset="0"/>
                <a:cs typeface="Times New Roman" panose="02020603050405020304" pitchFamily="18" charset="0"/>
              </a:rPr>
              <a:t>Intelligent Decision Support Systems: Transforming Smart Cities Management Zeinab E. Ahmed; Aisha H. A. Hashim; Rania A. Mokhtar; Mamoon M. Saeed 2024 1st International Conference on Emerging Technologies for Dependable Internet of Things (ICETI) https://doi.org/10.1109/ICETI63946.2024.10777112.</a:t>
            </a:r>
          </a:p>
          <a:p>
            <a:pPr algn="just"/>
            <a:r>
              <a:rPr lang="en-IN" sz="1800" dirty="0">
                <a:latin typeface="Times New Roman" panose="02020603050405020304" pitchFamily="18" charset="0"/>
                <a:cs typeface="Times New Roman" panose="02020603050405020304" pitchFamily="18" charset="0"/>
              </a:rPr>
              <a:t>The Novel use of AI and ML System Integration in Developing Spruce Metropolis Rahul Singh; K Maheswari; G Sridevi; Laith H. Alzubaidi; Mahalakshmi Shetty 2024 4th International Conference on Advance Computing and Innovative Technologies in Engineering (ICACITE) https://doi.org/10.1109/ICACITE60783.2024.106174 41. </a:t>
            </a:r>
          </a:p>
          <a:p>
            <a:pPr algn="just"/>
            <a:r>
              <a:rPr lang="en-IN" sz="1800" dirty="0">
                <a:latin typeface="Times New Roman" panose="02020603050405020304" pitchFamily="18" charset="0"/>
                <a:cs typeface="Times New Roman" panose="02020603050405020304" pitchFamily="18" charset="0"/>
              </a:rPr>
              <a:t>Intelligent transportation systems trusted user’s security and privacy Priyanka Kaushik; Saurabh Pratap Singh Rathore; Lakshay Sachdeva; Minakshi </a:t>
            </a:r>
            <a:r>
              <a:rPr lang="en-IN" sz="1800" dirty="0" err="1">
                <a:latin typeface="Times New Roman" panose="02020603050405020304" pitchFamily="18" charset="0"/>
                <a:cs typeface="Times New Roman" panose="02020603050405020304" pitchFamily="18" charset="0"/>
              </a:rPr>
              <a:t>Poonia</a:t>
            </a:r>
            <a:r>
              <a:rPr lang="en-IN" sz="1800" dirty="0">
                <a:latin typeface="Times New Roman" panose="02020603050405020304" pitchFamily="18" charset="0"/>
                <a:cs typeface="Times New Roman" panose="02020603050405020304" pitchFamily="18" charset="0"/>
              </a:rPr>
              <a:t>; Dipti Singh; Lovish Bir 2024 IEEE International Conference on Interdisciplinary Approaches in Technology and Management for Social Innovation (IATMSI) https://doi.org/10.1109/IATMSI60426.2024.1050287 3 </a:t>
            </a:r>
          </a:p>
          <a:p>
            <a:pPr algn="just"/>
            <a:r>
              <a:rPr lang="en-IN" sz="1800" dirty="0">
                <a:latin typeface="Times New Roman" panose="02020603050405020304" pitchFamily="18" charset="0"/>
                <a:cs typeface="Times New Roman" panose="02020603050405020304" pitchFamily="18" charset="0"/>
              </a:rPr>
              <a:t> Smart Road Surveillance: An AI and ML-Based System for Automatic Accident Detection and Emergency Response Shreyash Singh </a:t>
            </a:r>
            <a:r>
              <a:rPr lang="en-IN" sz="1800" dirty="0" err="1">
                <a:latin typeface="Times New Roman" panose="02020603050405020304" pitchFamily="18" charset="0"/>
                <a:cs typeface="Times New Roman" panose="02020603050405020304" pitchFamily="18" charset="0"/>
              </a:rPr>
              <a:t>Kushawah</a:t>
            </a:r>
            <a:r>
              <a:rPr lang="en-IN" sz="1800" dirty="0">
                <a:latin typeface="Times New Roman" panose="02020603050405020304" pitchFamily="18" charset="0"/>
                <a:cs typeface="Times New Roman" panose="02020603050405020304" pitchFamily="18" charset="0"/>
              </a:rPr>
              <a:t>; Amit Gupta; Richa Gupta 2024 International Conference on Cybernation and Computation (CYBERCOM) https://doi.org/10.1109/CYBERCOM63683.2024.108 03237 </a:t>
            </a:r>
          </a:p>
        </p:txBody>
      </p:sp>
      <p:sp>
        <p:nvSpPr>
          <p:cNvPr id="4" name="Slide Number Placeholder 3">
            <a:extLst>
              <a:ext uri="{FF2B5EF4-FFF2-40B4-BE49-F238E27FC236}">
                <a16:creationId xmlns:a16="http://schemas.microsoft.com/office/drawing/2014/main" id="{41DCAF58-C5BF-43C9-3C02-A00FBD57AEB5}"/>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114322031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6771</TotalTime>
  <Words>1406</Words>
  <Application>Microsoft Office PowerPoint</Application>
  <PresentationFormat>Widescreen</PresentationFormat>
  <Paragraphs>104</Paragraphs>
  <Slides>14</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Arial</vt:lpstr>
      <vt:lpstr>Calibri</vt:lpstr>
      <vt:lpstr>Calibri Light</vt:lpstr>
      <vt:lpstr>Casper</vt:lpstr>
      <vt:lpstr>Raleway ExtraBold</vt:lpstr>
      <vt:lpstr>Times New Roman</vt:lpstr>
      <vt:lpstr>1_Office Theme</vt:lpstr>
      <vt:lpstr>2_Office Theme</vt:lpstr>
      <vt:lpstr>Contents Slide Master</vt:lpstr>
      <vt:lpstr>PowerPoint Presentation</vt:lpstr>
      <vt:lpstr>Outline</vt:lpstr>
      <vt:lpstr>Introduction to Project</vt:lpstr>
      <vt:lpstr>Problem Formulation</vt:lpstr>
      <vt:lpstr>PowerPoint Presentation</vt:lpstr>
      <vt:lpstr>Objectives of the work </vt:lpstr>
      <vt:lpstr>Methodology </vt:lpstr>
      <vt:lpstr>Methodology used</vt:lpstr>
      <vt:lpstr>Results and Outputs </vt:lpstr>
      <vt:lpstr>PowerPoint Presentation</vt:lpstr>
      <vt:lpstr>Conclusion</vt:lpstr>
      <vt:lpstr>Future Scope </vt:lpstr>
      <vt:lpstr>References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Brijesh Kishore Purohit</cp:lastModifiedBy>
  <cp:revision>519</cp:revision>
  <dcterms:created xsi:type="dcterms:W3CDTF">2019-01-09T10:33:58Z</dcterms:created>
  <dcterms:modified xsi:type="dcterms:W3CDTF">2025-04-29T05:41:17Z</dcterms:modified>
</cp:coreProperties>
</file>